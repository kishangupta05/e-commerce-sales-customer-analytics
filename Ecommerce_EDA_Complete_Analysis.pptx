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E-Commerce Sales &amp; Customer Analytics — Complete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Power BI EDA after Power Query cleaning</a:t>
            </a:r>
          </a:p>
          <a:p>
            <a:pPr>
              <a:spcAft>
                <a:spcPts val="1200"/>
              </a:spcAft>
              <a:defRPr sz="1700"/>
            </a:pPr>
            <a:r>
              <a:t>18,000 cleaned records | 36 columns | 2022–2025</a:t>
            </a:r>
          </a:p>
          <a:p>
            <a:pPr>
              <a:spcAft>
                <a:spcPts val="1200"/>
              </a:spcAft>
              <a:defRPr sz="1700"/>
            </a:pPr>
            <a:r>
              <a:t>Business-question driven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KPI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Sales: $8.23M | Cost: $6.59M | Profit: $1.65M</a:t>
            </a:r>
          </a:p>
          <a:p>
            <a:pPr>
              <a:spcAft>
                <a:spcPts val="1200"/>
              </a:spcAft>
              <a:defRPr sz="1700"/>
            </a:pPr>
            <a:r>
              <a:t>Profit Margin: 19.98% | Quantity: ~38K</a:t>
            </a:r>
          </a:p>
          <a:p>
            <a:pPr>
              <a:spcAft>
                <a:spcPts val="1200"/>
              </a:spcAft>
              <a:defRPr sz="1700"/>
            </a:pPr>
            <a:r>
              <a:t>Transactions: 18K | Orders: 14,541</a:t>
            </a:r>
          </a:p>
          <a:p>
            <a:pPr>
              <a:spcAft>
                <a:spcPts val="1200"/>
              </a:spcAft>
              <a:defRPr sz="1700"/>
            </a:pPr>
            <a:r>
              <a:t>Return Rate: 10.41% | Returned Sales: $828.30K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1. Time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Sales show an overall upward pattern with fluctuations. Late 2025, especially November–December, is among the strongest periods.</a:t>
            </a:r>
          </a:p>
          <a:p>
            <a:pPr>
              <a:spcAft>
                <a:spcPts val="1200"/>
              </a:spcAft>
              <a:defRPr sz="1700"/>
            </a:pPr>
            <a:r>
              <a:t>Profit broadly follows sales but not perfectly; revenue growth should therefore be evaluated alongside profitability.</a:t>
            </a:r>
          </a:p>
          <a:p>
            <a:pPr>
              <a:spcAft>
                <a:spcPts val="1200"/>
              </a:spcAft>
              <a:defRPr sz="1700"/>
            </a:pPr>
            <a:r>
              <a:t>Business implication: compare sales and profit when evaluating growth periods.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2. Geography —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England is the strongest displayed region at about $1.34M sales and $0.27M profit. North East is about $1.01M and West about $0.99M.</a:t>
            </a:r>
          </a:p>
          <a:p>
            <a:pPr>
              <a:spcAft>
                <a:spcPts val="1200"/>
              </a:spcAft>
              <a:defRPr sz="1700"/>
            </a:pPr>
            <a:r>
              <a:t>North Rhine-Westphalia is among the lowest displayed regions at about $0.38M sales and $0.08M profit.</a:t>
            </a:r>
          </a:p>
          <a:p>
            <a:pPr>
              <a:spcAft>
                <a:spcPts val="1200"/>
              </a:spcAft>
              <a:defRPr sz="1700"/>
            </a:pPr>
            <a:r>
              <a:t>Regional margins are relatively close, roughly 19%–20.5%; scale differs more than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3. Geography — Cities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New York leads sales at about $1.0M and is also among the strongest in total profit. Los Angeles is about $0.98M; London about $0.84M.</a:t>
            </a:r>
          </a:p>
          <a:p>
            <a:pPr>
              <a:spcAft>
                <a:spcPts val="1200"/>
              </a:spcAft>
              <a:defRPr sz="1700"/>
            </a:pPr>
            <a:r>
              <a:t>Vancouver is around 20.4% margin among major top-sales cities; Chicago is around 19.2%–19.3%.</a:t>
            </a:r>
          </a:p>
          <a:p>
            <a:pPr>
              <a:spcAft>
                <a:spcPts val="1200"/>
              </a:spcAft>
              <a:defRPr sz="1700"/>
            </a:pPr>
            <a:r>
              <a:t>Insight: prioritize high-value markets while investigating lower-revenue markets.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4. Product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Top sales: AeroBook 14 (~$1.4M), ProBook 16 (~$1.36M), EdgeTab 11 (~$0.67M).</a:t>
            </a:r>
          </a:p>
          <a:p>
            <a:pPr>
              <a:spcAft>
                <a:spcPts val="1200"/>
              </a:spcAft>
              <a:defRPr sz="1700"/>
            </a:pPr>
            <a:r>
              <a:t>Top profit: ProBook 16 (~$252K), ahead of AeroBook 14 (~$235K).</a:t>
            </a:r>
          </a:p>
          <a:p>
            <a:pPr>
              <a:spcAft>
                <a:spcPts val="1200"/>
              </a:spcAft>
              <a:defRPr sz="1700"/>
            </a:pPr>
            <a:r>
              <a:t>AeroBook sells slightly more but ProBook makes more profit.</a:t>
            </a:r>
          </a:p>
          <a:p>
            <a:pPr>
              <a:spcAft>
                <a:spcPts val="1200"/>
              </a:spcAft>
              <a:defRPr sz="1700"/>
            </a:pPr>
            <a:r>
              <a:t>EdgeTab 11 is a high-sales/low-margin candidate at roughly 14%–15% margin.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5. Demand &amp;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Copy Paper Box leads quantity at roughly 2.1K units, showing that high unit demand does not necessarily mean high revenue.</a:t>
            </a:r>
          </a:p>
          <a:p>
            <a:pPr>
              <a:spcAft>
                <a:spcPts val="1200"/>
              </a:spcAft>
              <a:defRPr sz="1700"/>
            </a:pPr>
            <a:r>
              <a:t>Electronics is the scale engine: about $4.9M sales and ~$0.95M–$1.0M profit.</a:t>
            </a:r>
          </a:p>
          <a:p>
            <a:pPr>
              <a:spcAft>
                <a:spcPts val="1200"/>
              </a:spcAft>
              <a:defRPr sz="1700"/>
            </a:pPr>
            <a:r>
              <a:t>Appliances has the strongest margin, roughly 22%–23%, despite much smaller scale.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6. Customer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C00661 was the highest-sales customer in the reviewed ranking; C02549 was strongest by total order count.</a:t>
            </a:r>
          </a:p>
          <a:p>
            <a:pPr>
              <a:spcAft>
                <a:spcPts val="1200"/>
              </a:spcAft>
              <a:defRPr sz="1700"/>
            </a:pPr>
            <a:r>
              <a:t>AOV = Total Sales / Total Orders; overall benchmark is roughly $567.</a:t>
            </a:r>
          </a:p>
          <a:p>
            <a:pPr>
              <a:spcAft>
                <a:spcPts val="1200"/>
              </a:spcAft>
              <a:defRPr sz="1700"/>
            </a:pPr>
            <a:r>
              <a:t>C02252 had the highest AOV among the reviewed top customers; C01512 the lowest among that selected group.</a:t>
            </a:r>
          </a:p>
          <a:p>
            <a:pPr>
              <a:spcAft>
                <a:spcPts val="1200"/>
              </a:spcAft>
              <a:defRPr sz="1700"/>
            </a:pPr>
            <a:r>
              <a:t>Customer value should be evaluated using revenue, frequency and AOV together.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7. Customer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Consumer leads sales, profit and orders.</a:t>
            </a:r>
          </a:p>
          <a:p>
            <a:pPr>
              <a:spcAft>
                <a:spcPts val="1200"/>
              </a:spcAft>
              <a:defRPr sz="1700"/>
            </a:pPr>
            <a:r>
              <a:t>Margins: Consumer 18.70%; Small Business 18.52%; New Customers 17.65%; Returning Customer 13.95%.</a:t>
            </a:r>
          </a:p>
          <a:p>
            <a:pPr>
              <a:spcAft>
                <a:spcPts val="1200"/>
              </a:spcAft>
              <a:defRPr sz="1700"/>
            </a:pPr>
            <a:r>
              <a:t>Returning Customers are a margin red flag. Discounting, returns or product mix may be hypotheses for deeper analysis, not proven causes.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8. Discount &amp;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No obvious strong relationship was found between average discount and product-level total profit.</a:t>
            </a:r>
          </a:p>
          <a:p>
            <a:pPr>
              <a:spcAft>
                <a:spcPts val="1200"/>
              </a:spcAft>
              <a:defRPr sz="1700"/>
            </a:pPr>
            <a:r>
              <a:t>ProBook: ~6.36% average discount and ~$251.8K profit; Copy Paper Box: ~6.33% discount and only ~$11.1K profit.</a:t>
            </a:r>
          </a:p>
          <a:p>
            <a:pPr>
              <a:spcAft>
                <a:spcPts val="1200"/>
              </a:spcAft>
              <a:defRPr sz="1700"/>
            </a:pPr>
            <a:r>
              <a:t>Discount alone does not explain profitability; volume, pricing, cost structure and product mix matter.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9. Return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Overall return rate is 10.41%; returned sales are about $828.3K.</a:t>
            </a:r>
          </a:p>
          <a:p>
            <a:pPr>
              <a:spcAft>
                <a:spcPts val="1200"/>
              </a:spcAft>
              <a:defRPr sz="1700"/>
            </a:pPr>
            <a:r>
              <a:t>Coffee Machine has the highest observed product return rate at roughly 13%–14%. Appliances is around 12% category return rate versus Office Supplies around 10%.</a:t>
            </a:r>
          </a:p>
          <a:p>
            <a:pPr>
              <a:spcAft>
                <a:spcPts val="1200"/>
              </a:spcAft>
              <a:defRPr sz="1700"/>
            </a:pPr>
            <a:r>
              <a:t>Among returned transactions, Late Delivery is the top reason (331), followed by Wrong Item (317), Damaged (312), Other (311), Defective (302), Changed Mind (300).</a:t>
            </a:r>
          </a:p>
          <a:p>
            <a:pPr>
              <a:spcAft>
                <a:spcPts val="1200"/>
              </a:spcAft>
              <a:defRPr sz="1700"/>
            </a:pPr>
            <a:r>
              <a:t>Electronics has the highest returned sales (~$0.51M) mainly because it has the largest sales scale; returned sales is not the same as return 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10. Sales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Online is strongest at roughly $3.1M sales and ~$0.63M profit.</a:t>
            </a:r>
          </a:p>
          <a:p>
            <a:pPr>
              <a:spcAft>
                <a:spcPts val="1200"/>
              </a:spcAft>
              <a:defRPr sz="1700"/>
            </a:pPr>
            <a:r>
              <a:t>Phone Order is lowest among reviewed channels at roughly $0.6M sales and ~$0.11M profit.</a:t>
            </a:r>
          </a:p>
          <a:p>
            <a:pPr>
              <a:spcAft>
                <a:spcPts val="1200"/>
              </a:spcAft>
              <a:defRPr sz="1700"/>
            </a:pPr>
            <a:r>
              <a:t>Channel decisions should also consider margin, returns and operating cost.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11. Shipping &amp;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Next Day return rate is about 11.70%; Pickup about 10.04% — only ~1.66 percentage points apart.</a:t>
            </a:r>
          </a:p>
          <a:p>
            <a:pPr>
              <a:spcAft>
                <a:spcPts val="1200"/>
              </a:spcAft>
              <a:defRPr sz="1700"/>
            </a:pPr>
            <a:r>
              <a:t>Average delivery time: returned transactions 2.30 days; non-returned transactions 2.26 days.</a:t>
            </a:r>
          </a:p>
          <a:p>
            <a:pPr>
              <a:spcAft>
                <a:spcPts val="1200"/>
              </a:spcAft>
              <a:defRPr sz="1700"/>
            </a:pPr>
            <a:r>
              <a:t>Difference is only 0.04 days, roughly one hour. Delivery duration is therefore not a strong overall differentiator of returns.</a:t>
            </a:r>
          </a:p>
          <a:p>
            <a:pPr>
              <a:spcAft>
                <a:spcPts val="1200"/>
              </a:spcAft>
              <a:defRPr sz="1700"/>
            </a:pPr>
            <a:r>
              <a:t>Late Delivery remains the most common stated return reason, so specific late cases can be investigated without claiming causation.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12. Top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Electronics drives scale; Appliances has stronger margin.</a:t>
            </a:r>
          </a:p>
          <a:p>
            <a:pPr>
              <a:spcAft>
                <a:spcPts val="1200"/>
              </a:spcAft>
              <a:defRPr sz="1700"/>
            </a:pPr>
            <a:r>
              <a:t>ProBook 16 generates more profit than higher-selling AeroBook 14.</a:t>
            </a:r>
          </a:p>
          <a:p>
            <a:pPr>
              <a:spcAft>
                <a:spcPts val="1200"/>
              </a:spcAft>
              <a:defRPr sz="1700"/>
            </a:pPr>
            <a:r>
              <a:t>EdgeTab 11 combines strong sales with weak margin.</a:t>
            </a:r>
          </a:p>
          <a:p>
            <a:pPr>
              <a:spcAft>
                <a:spcPts val="1200"/>
              </a:spcAft>
              <a:defRPr sz="1700"/>
            </a:pPr>
            <a:r>
              <a:t>High unit demand does not equal high revenue.</a:t>
            </a:r>
          </a:p>
          <a:p>
            <a:pPr>
              <a:spcAft>
                <a:spcPts val="1200"/>
              </a:spcAft>
              <a:defRPr sz="1700"/>
            </a:pPr>
            <a:r>
              <a:t>Consumer is the strongest segment; Returning Customers have the weakest margin.</a:t>
            </a:r>
          </a:p>
          <a:p>
            <a:pPr>
              <a:spcAft>
                <a:spcPts val="1200"/>
              </a:spcAft>
              <a:defRPr sz="1700"/>
            </a:pPr>
            <a:r>
              <a:t>Discount alone does not explain profitability.</a:t>
            </a:r>
          </a:p>
          <a:p>
            <a:pPr>
              <a:spcAft>
                <a:spcPts val="1200"/>
              </a:spcAft>
              <a:defRPr sz="1700"/>
            </a:pPr>
            <a:r>
              <a:t>Returns are 10.41%; Late Delivery is the most common stated reason.</a:t>
            </a:r>
          </a:p>
          <a:p>
            <a:pPr>
              <a:spcAft>
                <a:spcPts val="1200"/>
              </a:spcAft>
              <a:defRPr sz="1700"/>
            </a:pPr>
            <a:r>
              <a:t>Online is the strongest sales channel by sales and total profit.</a:t>
            </a:r>
          </a:p>
          <a:p>
            <a:pPr>
              <a:spcAft>
                <a:spcPts val="1200"/>
              </a:spcAft>
              <a:defRPr sz="1700"/>
            </a:pPr>
            <a:r>
              <a:t>Delivery-time difference between returned and non-returned transactions is only 0.04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904</Words>
  <Application>Microsoft Office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kishan .</cp:lastModifiedBy>
  <cp:revision>2</cp:revision>
  <dcterms:created xsi:type="dcterms:W3CDTF">2013-01-27T09:14:16Z</dcterms:created>
  <dcterms:modified xsi:type="dcterms:W3CDTF">2026-10-25T13:32:58Z</dcterms:modified>
  <cp:category/>
</cp:coreProperties>
</file>