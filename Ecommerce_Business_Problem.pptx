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686800" y="0"/>
            <a:ext cx="3502152" cy="6858000"/>
          </a:xfrm>
          <a:prstGeom prst="rect">
            <a:avLst/>
          </a:prstGeom>
          <a:solidFill>
            <a:srgbClr val="0D1F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372600" y="777240"/>
            <a:ext cx="2057400" cy="118872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72600" y="1097280"/>
            <a:ext cx="1508760" cy="11887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72600" y="1417320"/>
            <a:ext cx="2423160" cy="118872"/>
          </a:xfrm>
          <a:prstGeom prst="rect">
            <a:avLst/>
          </a:prstGeom>
          <a:solidFill>
            <a:srgbClr val="F5B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960120"/>
            <a:ext cx="7498079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400" b="1">
                <a:solidFill>
                  <a:srgbClr val="A6D3FF"/>
                </a:solidFill>
                <a:latin typeface="Aptos"/>
              </a:rPr>
              <a:t>POWER BI PORTFOLIO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600200"/>
            <a:ext cx="7772400" cy="1371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E-Commerce Sales
&amp; Customer Analytics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3337560"/>
            <a:ext cx="7223760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900" b="0">
                <a:solidFill>
                  <a:srgbClr val="D7E4FF"/>
                </a:solidFill>
                <a:latin typeface="Aptos"/>
              </a:rPr>
              <a:t>Business Problem, Objectives &amp; Analytical Scope</a:t>
            </a:r>
          </a:p>
        </p:txBody>
      </p:sp>
      <p:sp>
        <p:nvSpPr>
          <p:cNvPr id="9" name="Rectangle 8"/>
          <p:cNvSpPr/>
          <p:nvPr/>
        </p:nvSpPr>
        <p:spPr>
          <a:xfrm>
            <a:off x="795528" y="4160520"/>
            <a:ext cx="1234440" cy="64008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4526280"/>
            <a:ext cx="694944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400" b="0">
                <a:solidFill>
                  <a:srgbClr val="DEE6F7"/>
                </a:solidFill>
                <a:latin typeface="Aptos"/>
              </a:rPr>
              <a:t>Data cleaning, SQL analysis, DAX measures and interactive Power BI dashboards.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6172200"/>
            <a:ext cx="68580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1">
                <a:solidFill>
                  <a:srgbClr val="A6D3FF"/>
                </a:solidFill>
                <a:latin typeface="Aptos"/>
              </a:rPr>
              <a:t>BUSINESS PROBLEM BRIEF  •  3 DASHBOARD PAGES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700" b="1">
                <a:solidFill>
                  <a:srgbClr val="0A165C"/>
                </a:solidFill>
                <a:latin typeface="Aptos"/>
              </a:rPr>
              <a:t>1. Business Context &amp;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97280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00" b="0">
                <a:solidFill>
                  <a:srgbClr val="606B7A"/>
                </a:solidFill>
                <a:latin typeface="Aptos"/>
              </a:rPr>
              <a:t>Why this analysis matters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280160"/>
            <a:ext cx="1051560" cy="54864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92840" y="6510528"/>
            <a:ext cx="3657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900" b="0">
                <a:solidFill>
                  <a:srgbClr val="606B7A"/>
                </a:solidFill>
                <a:latin typeface="Aptos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45920"/>
            <a:ext cx="493776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400" b="1">
                <a:solidFill>
                  <a:srgbClr val="1E90FF"/>
                </a:solidFill>
                <a:latin typeface="Aptos"/>
              </a:rPr>
              <a:t>BUSINESS CONTEXT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057400"/>
            <a:ext cx="4983480" cy="1325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800" b="0">
                <a:solidFill>
                  <a:srgbClr val="1F2937"/>
                </a:solidFill>
                <a:latin typeface="Aptos"/>
              </a:rPr>
              <a:t>An e-commerce business generates transactions across products, customer segments, regions and sales channels. Leaders need a consolidated view of sales performance, profitability, customer behaviour and returns.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703320"/>
            <a:ext cx="484632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400" b="1">
                <a:solidFill>
                  <a:srgbClr val="1E90FF"/>
                </a:solidFill>
                <a:latin typeface="Aptos"/>
              </a:rPr>
              <a:t>KEY QUESTIONS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096512"/>
            <a:ext cx="5074920" cy="164592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Where does revenue and profit come from?</a:t>
            </a:r>
          </a:p>
          <a:p>
            <a:pPr>
              <a:spcAft>
                <a:spcPts val="9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Which products and customer segments perform best?</a:t>
            </a:r>
          </a:p>
          <a:p>
            <a:pPr>
              <a:spcAft>
                <a:spcPts val="9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Where are returns more frequent, and what reasons are recorded?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80760" y="1737360"/>
            <a:ext cx="534924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80760" y="1737360"/>
            <a:ext cx="73152" cy="1188720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1874519"/>
            <a:ext cx="507492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400" b="1">
                <a:solidFill>
                  <a:srgbClr val="0A165C"/>
                </a:solidFill>
                <a:latin typeface="Aptos"/>
              </a:rPr>
              <a:t>THE CORE PROBLEM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2240280"/>
            <a:ext cx="5029200" cy="6217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Aptos"/>
              </a:rPr>
              <a:t>Revenue, profit, customer behaviour and returns can be difficult to act on when viewed separately.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80760" y="3182112"/>
            <a:ext cx="534924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80760" y="3182112"/>
            <a:ext cx="73152" cy="11887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3319272"/>
            <a:ext cx="507492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400" b="1">
                <a:solidFill>
                  <a:srgbClr val="0A165C"/>
                </a:solidFill>
                <a:latin typeface="Aptos"/>
              </a:rPr>
              <a:t>THE ANALYTICAL NEED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3685032"/>
            <a:ext cx="5029200" cy="6217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Aptos"/>
              </a:rPr>
              <a:t>Build a single interactive reporting experience to compare performance and identify areas for investigation.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700" b="1">
                <a:solidFill>
                  <a:srgbClr val="0A165C"/>
                </a:solidFill>
                <a:latin typeface="Aptos"/>
              </a:rPr>
              <a:t>2. Project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97280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00" b="0">
                <a:solidFill>
                  <a:srgbClr val="606B7A"/>
                </a:solidFill>
                <a:latin typeface="Aptos"/>
              </a:rPr>
              <a:t>Turn transaction-level data into decision-support insights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280160"/>
            <a:ext cx="1051560" cy="54864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92840" y="6510528"/>
            <a:ext cx="3657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900" b="0">
                <a:solidFill>
                  <a:srgbClr val="606B7A"/>
                </a:solidFill>
                <a:latin typeface="Aptos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37360"/>
            <a:ext cx="52578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737360"/>
            <a:ext cx="73152" cy="1417320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74519"/>
            <a:ext cx="498348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400" b="1">
                <a:solidFill>
                  <a:srgbClr val="0A165C"/>
                </a:solidFill>
                <a:latin typeface="Aptos"/>
              </a:rPr>
              <a:t>Measure performance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240280"/>
            <a:ext cx="4937760" cy="8503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Aptos"/>
              </a:rPr>
              <a:t>Track revenue, profit, orders, customers, profit margin and average order value.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737360"/>
            <a:ext cx="52578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2200" y="1737360"/>
            <a:ext cx="73152" cy="14173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874519"/>
            <a:ext cx="498348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400" b="1">
                <a:solidFill>
                  <a:srgbClr val="0A165C"/>
                </a:solidFill>
                <a:latin typeface="Aptos"/>
              </a:rPr>
              <a:t>Compare products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240280"/>
            <a:ext cx="4937760" cy="8503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Aptos"/>
              </a:rPr>
              <a:t>Rank products by revenue and profit; review lower-profit products and category performance.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657600"/>
            <a:ext cx="52578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3657600"/>
            <a:ext cx="73152" cy="1417320"/>
          </a:xfrm>
          <a:prstGeom prst="rect">
            <a:avLst/>
          </a:prstGeom>
          <a:solidFill>
            <a:srgbClr val="F5B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794760"/>
            <a:ext cx="498348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400" b="1">
                <a:solidFill>
                  <a:srgbClr val="0A165C"/>
                </a:solidFill>
                <a:latin typeface="Aptos"/>
              </a:rPr>
              <a:t>Understand customers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160520"/>
            <a:ext cx="4937760" cy="8503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Aptos"/>
              </a:rPr>
              <a:t>Review repeat-customer behaviour, customer segments, top customers and average rating.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3657600"/>
            <a:ext cx="52578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72200" y="3657600"/>
            <a:ext cx="73152" cy="1417320"/>
          </a:xfrm>
          <a:prstGeom prst="rect">
            <a:avLst/>
          </a:prstGeom>
          <a:solidFill>
            <a:srgbClr val="745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3794760"/>
            <a:ext cx="498348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400" b="1">
                <a:solidFill>
                  <a:srgbClr val="0A165C"/>
                </a:solidFill>
                <a:latin typeface="Aptos"/>
              </a:rPr>
              <a:t>Investigate returns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4160520"/>
            <a:ext cx="4937760" cy="8503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Aptos"/>
              </a:rPr>
              <a:t>Compare return rates by category and shipping method, and count recorded return reasons.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700" b="1">
                <a:solidFill>
                  <a:srgbClr val="0A165C"/>
                </a:solidFill>
                <a:latin typeface="Aptos"/>
              </a:rPr>
              <a:t>3. Data &amp; Analytical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97280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00" b="0">
                <a:solidFill>
                  <a:srgbClr val="606B7A"/>
                </a:solidFill>
                <a:latin typeface="Aptos"/>
              </a:rPr>
              <a:t>Scope reflected in the current project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280160"/>
            <a:ext cx="1051560" cy="54864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92840" y="6510528"/>
            <a:ext cx="3657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900" b="0">
                <a:solidFill>
                  <a:srgbClr val="606B7A"/>
                </a:solidFill>
                <a:latin typeface="Aptos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91640"/>
            <a:ext cx="34290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691640"/>
            <a:ext cx="73152" cy="1234440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315468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400" b="1">
                <a:solidFill>
                  <a:srgbClr val="0A165C"/>
                </a:solidFill>
                <a:latin typeface="Aptos"/>
              </a:rPr>
              <a:t>DATASET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94560"/>
            <a:ext cx="3108960" cy="6675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Aptos"/>
              </a:rPr>
              <a:t>Approximately 18,001 rows and 36 columns were reported during project work.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691640"/>
            <a:ext cx="34290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691640"/>
            <a:ext cx="73152" cy="123444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828800"/>
            <a:ext cx="315468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400" b="1">
                <a:solidFill>
                  <a:srgbClr val="0A165C"/>
                </a:solidFill>
                <a:latin typeface="Aptos"/>
              </a:rPr>
              <a:t>ANALYSIS TOOLS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194560"/>
            <a:ext cx="3108960" cy="6675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Aptos"/>
              </a:rPr>
              <a:t>SQL / PostgreSQL for querying; Power BI for measures, visuals and interactive reporting.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691640"/>
            <a:ext cx="34290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1691640"/>
            <a:ext cx="73152" cy="1234440"/>
          </a:xfrm>
          <a:prstGeom prst="rect">
            <a:avLst/>
          </a:prstGeom>
          <a:solidFill>
            <a:srgbClr val="F5B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19" y="1828800"/>
            <a:ext cx="315468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400" b="1">
                <a:solidFill>
                  <a:srgbClr val="0A165C"/>
                </a:solidFill>
                <a:latin typeface="Aptos"/>
              </a:rPr>
              <a:t>DATA PREPARATION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19" y="2194560"/>
            <a:ext cx="3108960" cy="6675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Aptos"/>
              </a:rPr>
              <a:t>Duplicate review, type standardization, category consistency checks and investigation of suspicious values.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3246120"/>
            <a:ext cx="502920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400" b="1">
                <a:solidFill>
                  <a:srgbClr val="1E90FF"/>
                </a:solidFill>
                <a:latin typeface="Aptos"/>
              </a:rPr>
              <a:t>CORE DIMENSIONS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3611880"/>
            <a:ext cx="5074920" cy="214884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900"/>
              </a:spcAft>
              <a:defRPr sz="1300">
                <a:solidFill>
                  <a:srgbClr val="1F2937"/>
                </a:solidFill>
                <a:latin typeface="Aptos"/>
              </a:defRPr>
            </a:pPr>
            <a:r>
              <a:t>Time: order date and monthly sales trend</a:t>
            </a:r>
          </a:p>
          <a:p>
            <a:pPr>
              <a:spcAft>
                <a:spcPts val="900"/>
              </a:spcAft>
              <a:defRPr sz="1300">
                <a:solidFill>
                  <a:srgbClr val="1F2937"/>
                </a:solidFill>
                <a:latin typeface="Aptos"/>
              </a:defRPr>
            </a:pPr>
            <a:r>
              <a:t>Geography: region-level revenue and profit</a:t>
            </a:r>
          </a:p>
          <a:p>
            <a:pPr>
              <a:spcAft>
                <a:spcPts val="900"/>
              </a:spcAft>
              <a:defRPr sz="1300">
                <a:solidFill>
                  <a:srgbClr val="1F2937"/>
                </a:solidFill>
                <a:latin typeface="Aptos"/>
              </a:defRPr>
            </a:pPr>
            <a:r>
              <a:t>Products: product name and category</a:t>
            </a:r>
          </a:p>
          <a:p>
            <a:pPr>
              <a:spcAft>
                <a:spcPts val="900"/>
              </a:spcAft>
              <a:defRPr sz="1300">
                <a:solidFill>
                  <a:srgbClr val="1F2937"/>
                </a:solidFill>
                <a:latin typeface="Aptos"/>
              </a:defRPr>
            </a:pPr>
            <a:r>
              <a:t>Customers: customer ID and customer segment</a:t>
            </a:r>
          </a:p>
          <a:p>
            <a:pPr>
              <a:spcAft>
                <a:spcPts val="900"/>
              </a:spcAft>
              <a:defRPr sz="1300">
                <a:solidFill>
                  <a:srgbClr val="1F2937"/>
                </a:solidFill>
                <a:latin typeface="Aptos"/>
              </a:defRPr>
            </a:pPr>
            <a:r>
              <a:t>Operations: sales channel, shipping method and return information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3246120"/>
            <a:ext cx="502920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400" b="1">
                <a:solidFill>
                  <a:srgbClr val="1E90FF"/>
                </a:solidFill>
                <a:latin typeface="Aptos"/>
              </a:rPr>
              <a:t>IMPORTANT DATA NOTES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3611880"/>
            <a:ext cx="5074920" cy="214884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900"/>
              </a:spcAft>
              <a:defRPr sz="1300">
                <a:solidFill>
                  <a:srgbClr val="1F2937"/>
                </a:solidFill>
                <a:latin typeface="Aptos"/>
              </a:defRPr>
            </a:pPr>
            <a:r>
              <a:t>An order can have multiple product-detail rows; Order_ID is not automatically a unique row key.</a:t>
            </a:r>
          </a:p>
          <a:p>
            <a:pPr>
              <a:spcAft>
                <a:spcPts val="900"/>
              </a:spcAft>
              <a:defRPr sz="1300">
                <a:solidFill>
                  <a:srgbClr val="1F2937"/>
                </a:solidFill>
                <a:latin typeface="Aptos"/>
              </a:defRPr>
            </a:pPr>
            <a:r>
              <a:t>Blank return reasons may be valid for non-returned records.</a:t>
            </a:r>
          </a:p>
          <a:p>
            <a:pPr>
              <a:spcAft>
                <a:spcPts val="900"/>
              </a:spcAft>
              <a:defRPr sz="1300">
                <a:solidFill>
                  <a:srgbClr val="1F2937"/>
                </a:solidFill>
                <a:latin typeface="Aptos"/>
              </a:defRPr>
            </a:pPr>
            <a:r>
              <a:t>Returned Sales is the sales value of rows marked returned, not necessarily the actual refund amount.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700" b="1">
                <a:solidFill>
                  <a:srgbClr val="0A165C"/>
                </a:solidFill>
                <a:latin typeface="Aptos"/>
              </a:rPr>
              <a:t>4. Business Questions to Answer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97280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00" b="0">
                <a:solidFill>
                  <a:srgbClr val="606B7A"/>
                </a:solidFill>
                <a:latin typeface="Aptos"/>
              </a:rPr>
              <a:t>Questions that guide the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280160"/>
            <a:ext cx="1051560" cy="54864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92840" y="6510528"/>
            <a:ext cx="3657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900" b="0">
                <a:solidFill>
                  <a:srgbClr val="606B7A"/>
                </a:solidFill>
                <a:latin typeface="Aptos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502920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400" b="1">
                <a:solidFill>
                  <a:srgbClr val="1E90FF"/>
                </a:solidFill>
                <a:latin typeface="Aptos"/>
              </a:rPr>
              <a:t>SALES &amp; PRODUCT PERFORMANCE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5120640" cy="329184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Which regions and sales channels contribute the most revenue and profit?</a:t>
            </a:r>
          </a:p>
          <a:p>
            <a:pPr>
              <a:spcAft>
                <a:spcPts val="9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How do sales change over time?</a:t>
            </a:r>
          </a:p>
          <a:p>
            <a:pPr>
              <a:spcAft>
                <a:spcPts val="9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Which product categories and individual products lead in revenue or profit?</a:t>
            </a:r>
          </a:p>
          <a:p>
            <a:pPr>
              <a:spcAft>
                <a:spcPts val="9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Which products have comparatively low profit?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91640"/>
            <a:ext cx="502920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400" b="1">
                <a:solidFill>
                  <a:srgbClr val="008080"/>
                </a:solidFill>
                <a:latin typeface="Aptos"/>
              </a:rPr>
              <a:t>CUSTOMERS &amp; RETURNS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2103120"/>
            <a:ext cx="5120640" cy="329184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How do customer segments compare in sales and profit?</a:t>
            </a:r>
          </a:p>
          <a:p>
            <a:pPr>
              <a:spcAft>
                <a:spcPts val="9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How many customers place more than one distinct order?</a:t>
            </a:r>
          </a:p>
          <a:p>
            <a:pPr>
              <a:spcAft>
                <a:spcPts val="9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How do return rates vary by category and shipping method?</a:t>
            </a:r>
          </a:p>
          <a:p>
            <a:pPr>
              <a:spcAft>
                <a:spcPts val="9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What return reasons are most frequently recorded?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700" b="1">
                <a:solidFill>
                  <a:srgbClr val="0A165C"/>
                </a:solidFill>
                <a:latin typeface="Aptos"/>
              </a:rPr>
              <a:t>5. KPI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97280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00" b="0">
                <a:solidFill>
                  <a:srgbClr val="606B7A"/>
                </a:solidFill>
                <a:latin typeface="Aptos"/>
              </a:rPr>
              <a:t>Confirm each definition against business rules and data grain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280160"/>
            <a:ext cx="1051560" cy="54864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92840" y="6510528"/>
            <a:ext cx="3657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900" b="0">
                <a:solidFill>
                  <a:srgbClr val="606B7A"/>
                </a:solidFill>
                <a:latin typeface="Aptos"/>
              </a:rP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600200"/>
            <a:ext cx="51663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13232" y="1600200"/>
            <a:ext cx="73152" cy="1051560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737360"/>
            <a:ext cx="489204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400" b="1">
                <a:solidFill>
                  <a:srgbClr val="0A165C"/>
                </a:solidFill>
                <a:latin typeface="Aptos"/>
              </a:rPr>
              <a:t>Total Revenue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103120"/>
            <a:ext cx="4846320" cy="484631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Aptos"/>
              </a:rPr>
              <a:t>Sum of Sales_Amount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5352" y="1600200"/>
            <a:ext cx="51663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45352" y="1600200"/>
            <a:ext cx="73152" cy="105156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737360"/>
            <a:ext cx="489204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400" b="1">
                <a:solidFill>
                  <a:srgbClr val="0A165C"/>
                </a:solidFill>
                <a:latin typeface="Aptos"/>
              </a:rPr>
              <a:t>Total Profit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8232" y="2103120"/>
            <a:ext cx="4846320" cy="484631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Aptos"/>
              </a:rPr>
              <a:t>Sum of Profit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2953512"/>
            <a:ext cx="51663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3232" y="2953512"/>
            <a:ext cx="73152" cy="1051560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3090672"/>
            <a:ext cx="489204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400" b="1">
                <a:solidFill>
                  <a:srgbClr val="0A165C"/>
                </a:solidFill>
                <a:latin typeface="Aptos"/>
              </a:rPr>
              <a:t>Profit Margin 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" y="3456432"/>
            <a:ext cx="4846320" cy="484631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Aptos"/>
              </a:rPr>
              <a:t>Total Profit ÷ Total Revenue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45352" y="2953512"/>
            <a:ext cx="51663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45352" y="2953512"/>
            <a:ext cx="73152" cy="105156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8232" y="3090672"/>
            <a:ext cx="489204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400" b="1">
                <a:solidFill>
                  <a:srgbClr val="0A165C"/>
                </a:solidFill>
                <a:latin typeface="Aptos"/>
              </a:rPr>
              <a:t>Average Order Value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8232" y="3456432"/>
            <a:ext cx="4846320" cy="484631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Aptos"/>
              </a:rPr>
              <a:t>Total Revenue ÷ distinct orders, if this is the agreed definition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4306824"/>
            <a:ext cx="51663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" y="4306824"/>
            <a:ext cx="73152" cy="1051560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6112" y="4443984"/>
            <a:ext cx="489204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400" b="1">
                <a:solidFill>
                  <a:srgbClr val="0A165C"/>
                </a:solidFill>
                <a:latin typeface="Aptos"/>
              </a:rPr>
              <a:t>Returning Customers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" y="4809744"/>
            <a:ext cx="4846320" cy="484631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Aptos"/>
              </a:rPr>
              <a:t>Distinct customers with more than one distinct Order_ID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45352" y="4306824"/>
            <a:ext cx="51663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45352" y="4306824"/>
            <a:ext cx="73152" cy="105156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28232" y="4443984"/>
            <a:ext cx="489204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400" b="1">
                <a:solidFill>
                  <a:srgbClr val="0A165C"/>
                </a:solidFill>
                <a:latin typeface="Aptos"/>
              </a:rPr>
              <a:t>Return Rate 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28232" y="4809744"/>
            <a:ext cx="4846320" cy="484631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Aptos"/>
              </a:rPr>
              <a:t>Distinct returned orders ÷ distinct orders, if Return_Flag supports order-level interpretation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8" y="5897880"/>
            <a:ext cx="1078992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1">
                <a:solidFill>
                  <a:srgbClr val="606B7A"/>
                </a:solidFill>
                <a:latin typeface="Aptos"/>
              </a:rPr>
              <a:t>Do not interpret returned sales as refunds or a rate without confirming its numerator, denominator and data grain.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700" b="1">
                <a:solidFill>
                  <a:srgbClr val="0A165C"/>
                </a:solidFill>
                <a:latin typeface="Aptos"/>
              </a:rPr>
              <a:t>6. Dashboard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97280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00" b="0">
                <a:solidFill>
                  <a:srgbClr val="606B7A"/>
                </a:solidFill>
                <a:latin typeface="Aptos"/>
              </a:rPr>
              <a:t>Three pages, each focused on a distinct decision area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280160"/>
            <a:ext cx="1051560" cy="54864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92840" y="6510528"/>
            <a:ext cx="3657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900" b="0">
                <a:solidFill>
                  <a:srgbClr val="606B7A"/>
                </a:solidFill>
                <a:latin typeface="Aptos"/>
              </a:rP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691640"/>
            <a:ext cx="352044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13232" y="1691640"/>
            <a:ext cx="73152" cy="2331720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828800"/>
            <a:ext cx="324612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400" b="1">
                <a:solidFill>
                  <a:srgbClr val="0A165C"/>
                </a:solidFill>
                <a:latin typeface="Aptos"/>
              </a:rPr>
              <a:t>PAGE 1 | EXECUTIVE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194560"/>
            <a:ext cx="3200400" cy="1764791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Aptos"/>
              </a:rPr>
              <a:t>• Revenue, profit, orders and customers
• Monthly sales trend
• Region and channel comparisons
• Category revenue and profit margin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691640"/>
            <a:ext cx="352044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691640"/>
            <a:ext cx="73152" cy="23317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1828800"/>
            <a:ext cx="324612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400" b="1">
                <a:solidFill>
                  <a:srgbClr val="0A165C"/>
                </a:solidFill>
                <a:latin typeface="Aptos"/>
              </a:rPr>
              <a:t>PAGE 2 | PRODUCT ANALYSIS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194560"/>
            <a:ext cx="3200400" cy="1764791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Aptos"/>
              </a:rPr>
              <a:t>• Top products by revenue and profit
• Bottom products by profit
• Revenue vs profit scatter analysis
• Category-level performance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73568" y="1691640"/>
            <a:ext cx="352044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73568" y="1691640"/>
            <a:ext cx="73152" cy="2331720"/>
          </a:xfrm>
          <a:prstGeom prst="rect">
            <a:avLst/>
          </a:prstGeom>
          <a:solidFill>
            <a:srgbClr val="F5B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56448" y="1828800"/>
            <a:ext cx="324612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400" b="1">
                <a:solidFill>
                  <a:srgbClr val="0A165C"/>
                </a:solidFill>
                <a:latin typeface="Aptos"/>
              </a:rPr>
              <a:t>PAGE 3 | CUSTOMER &amp; RETURNS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56448" y="2194560"/>
            <a:ext cx="3200400" cy="1764791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Aptos"/>
              </a:rPr>
              <a:t>• Repeat-customer and rating KPIs
• Top customers by revenue
• Segment sales and profit
• Return rates and recorded reasons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4572000"/>
            <a:ext cx="1060704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600" b="1">
                <a:solidFill>
                  <a:srgbClr val="0A165C"/>
                </a:solidFill>
                <a:latin typeface="Aptos"/>
              </a:rPr>
              <a:t>Interactive slicers: Order Date, Region, Product Category and Customer Segment.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5074920"/>
            <a:ext cx="1060704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300" b="0">
                <a:solidFill>
                  <a:srgbClr val="606B7A"/>
                </a:solidFill>
                <a:latin typeface="Aptos"/>
              </a:rPr>
              <a:t>Design intent: help users explore results by available dimensions while keeping KPI definitions consistent across pages.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700" b="1">
                <a:solidFill>
                  <a:srgbClr val="0A165C"/>
                </a:solidFill>
                <a:latin typeface="Aptos"/>
              </a:rPr>
              <a:t>7. Expected Business Value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97280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00" b="0">
                <a:solidFill>
                  <a:srgbClr val="606B7A"/>
                </a:solidFill>
                <a:latin typeface="Aptos"/>
              </a:rPr>
              <a:t>Insights support investigation; they do not prove causation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280160"/>
            <a:ext cx="1051560" cy="54864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92840" y="6510528"/>
            <a:ext cx="3657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900" b="0">
                <a:solidFill>
                  <a:srgbClr val="606B7A"/>
                </a:solidFill>
                <a:latin typeface="Aptos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502920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400" b="1">
                <a:solidFill>
                  <a:srgbClr val="1E90FF"/>
                </a:solidFill>
                <a:latin typeface="Aptos"/>
              </a:rPr>
              <a:t>POTENTIAL BUSINESS VALUE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5120640" cy="288036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1F2937"/>
                </a:solidFill>
                <a:latin typeface="Aptos"/>
              </a:defRPr>
            </a:pPr>
            <a:r>
              <a:t>Focus on high-revenue and high-profit products.</a:t>
            </a:r>
          </a:p>
          <a:p>
            <a:pPr>
              <a:spcAft>
                <a:spcPts val="900"/>
              </a:spcAft>
              <a:defRPr sz="1400">
                <a:solidFill>
                  <a:srgbClr val="1F2937"/>
                </a:solidFill>
                <a:latin typeface="Aptos"/>
              </a:defRPr>
            </a:pPr>
            <a:r>
              <a:t>Review lower-profit products for pricing, cost or discount drivers.</a:t>
            </a:r>
          </a:p>
          <a:p>
            <a:pPr>
              <a:spcAft>
                <a:spcPts val="900"/>
              </a:spcAft>
              <a:defRPr sz="1400">
                <a:solidFill>
                  <a:srgbClr val="1F2937"/>
                </a:solidFill>
                <a:latin typeface="Aptos"/>
              </a:defRPr>
            </a:pPr>
            <a:r>
              <a:t>Investigate regions or channels with weaker performance.</a:t>
            </a:r>
          </a:p>
          <a:p>
            <a:pPr>
              <a:spcAft>
                <a:spcPts val="900"/>
              </a:spcAft>
              <a:defRPr sz="1400">
                <a:solidFill>
                  <a:srgbClr val="1F2937"/>
                </a:solidFill>
                <a:latin typeface="Aptos"/>
              </a:defRPr>
            </a:pPr>
            <a:r>
              <a:t>Prioritize operational review of frequent return reasons such as late delivery and wrong item.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91640"/>
            <a:ext cx="502920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400" b="1">
                <a:solidFill>
                  <a:srgbClr val="008080"/>
                </a:solidFill>
                <a:latin typeface="Aptos"/>
              </a:rPr>
              <a:t>RECOMMENDED NEXT STEPS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2103120"/>
            <a:ext cx="5120640" cy="288036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1F2937"/>
                </a:solidFill>
                <a:latin typeface="Aptos"/>
              </a:defRPr>
            </a:pPr>
            <a:r>
              <a:t>Validate DAX measures and reconcile KPIs to source data.</a:t>
            </a:r>
          </a:p>
          <a:p>
            <a:pPr>
              <a:spcAft>
                <a:spcPts val="900"/>
              </a:spcAft>
              <a:defRPr sz="1400">
                <a:solidFill>
                  <a:srgbClr val="1F2937"/>
                </a:solidFill>
                <a:latin typeface="Aptos"/>
              </a:defRPr>
            </a:pPr>
            <a:r>
              <a:t>Confirm slicer synchronization and cross-filter behaviour.</a:t>
            </a:r>
          </a:p>
          <a:p>
            <a:pPr>
              <a:spcAft>
                <a:spcPts val="900"/>
              </a:spcAft>
              <a:defRPr sz="1400">
                <a:solidFill>
                  <a:srgbClr val="1F2937"/>
                </a:solidFill>
                <a:latin typeface="Aptos"/>
              </a:defRPr>
            </a:pPr>
            <a:r>
              <a:t>Check return-rate definitions against row grain and return-flag logic.</a:t>
            </a:r>
          </a:p>
          <a:p>
            <a:pPr>
              <a:spcAft>
                <a:spcPts val="900"/>
              </a:spcAft>
              <a:defRPr sz="1400">
                <a:solidFill>
                  <a:srgbClr val="1F2937"/>
                </a:solidFill>
                <a:latin typeface="Aptos"/>
              </a:defRPr>
            </a:pPr>
            <a:r>
              <a:t>Document assumptions, findings and limitations before presenting.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5577840"/>
            <a:ext cx="1069848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400" b="1">
                <a:solidFill>
                  <a:srgbClr val="0A165C"/>
                </a:solidFill>
                <a:latin typeface="Aptos"/>
              </a:rPr>
              <a:t>Project outcome: an interactive Power BI dashboard designed to support evidence-based exploration of sales, profitability, customer behaviour and returns.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