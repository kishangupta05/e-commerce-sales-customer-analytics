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0D1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72600" y="777240"/>
            <a:ext cx="2057400" cy="11887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372600" y="1097280"/>
            <a:ext cx="1508760" cy="1188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372600" y="1417320"/>
            <a:ext cx="2423160" cy="118872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7498079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 dirty="0">
                <a:solidFill>
                  <a:srgbClr val="A6D3FF"/>
                </a:solidFill>
                <a:latin typeface="Aptos"/>
              </a:rPr>
              <a:t>POWER BI PORTFOLIO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00200"/>
            <a:ext cx="77724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E-Commerce Sales
&amp; Customer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337560"/>
            <a:ext cx="722376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0">
                <a:solidFill>
                  <a:srgbClr val="D7E4FF"/>
                </a:solidFill>
                <a:latin typeface="Aptos"/>
              </a:rPr>
              <a:t>Key Business Insights &amp; Recommendations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" y="4160520"/>
            <a:ext cx="1234440" cy="640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4526280"/>
            <a:ext cx="694944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DEE6F7"/>
                </a:solidFill>
                <a:latin typeface="Aptos"/>
              </a:rPr>
              <a:t>A summary of the findings observed across the three-page Power BI dashboard.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6172200"/>
            <a:ext cx="6858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A6D3FF"/>
                </a:solidFill>
                <a:latin typeface="Aptos"/>
              </a:rPr>
              <a:t>KEY INSIGHTS  •  SALES  •  PRODUCTS  •  CUSTOMERS  •  RETURNS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0A165C"/>
                </a:solidFill>
                <a:latin typeface="Aptos"/>
              </a:rPr>
              <a:t>1.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06B7A"/>
                </a:solidFill>
                <a:latin typeface="Aptos"/>
              </a:rPr>
              <a:t>Headline metrics from the current dashboard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0515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06B7A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73152" cy="1188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73936"/>
            <a:ext cx="231343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TOTAL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2295144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₹8.23M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645920"/>
            <a:ext cx="73152" cy="1188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1773936"/>
            <a:ext cx="231343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TOTAL 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21408"/>
            <a:ext cx="2295144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₹1.65M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4592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645920"/>
            <a:ext cx="73152" cy="118872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773936"/>
            <a:ext cx="231343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PROFIT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21408"/>
            <a:ext cx="2295144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19.98%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64592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52560" y="1645920"/>
            <a:ext cx="73152" cy="1188720"/>
          </a:xfrm>
          <a:prstGeom prst="rect">
            <a:avLst/>
          </a:prstGeom>
          <a:solidFill>
            <a:srgbClr val="74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773936"/>
            <a:ext cx="217627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TOTAL 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121408"/>
            <a:ext cx="2157984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~15K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46120"/>
            <a:ext cx="5029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  <a:latin typeface="Aptos"/>
              </a:rPr>
              <a:t>WHAT THE NUMBERS SUGGEST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39312"/>
            <a:ext cx="5074920" cy="2011680"/>
          </a:xfrm>
          <a:prstGeom prst="rect">
            <a:avLst/>
          </a:prstGeom>
          <a:noFill/>
        </p:spPr>
        <p:txBody>
          <a:bodyPr wrap="square" lIns="73152" tIns="27432" r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The dashboard records approximately ₹8.23M in revenue and ₹1.65M in profit.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The displayed overall profit margin is 19.98%.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The business has a broad product and customer view across three interactive report pages.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246120"/>
            <a:ext cx="5029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08080"/>
                </a:solidFill>
                <a:latin typeface="Aptos"/>
              </a:rPr>
              <a:t>INTERPRETATION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639312"/>
            <a:ext cx="5074920" cy="2011680"/>
          </a:xfrm>
          <a:prstGeom prst="rect">
            <a:avLst/>
          </a:prstGeom>
          <a:noFill/>
        </p:spPr>
        <p:txBody>
          <a:bodyPr wrap="square" lIns="73152" tIns="27432" rIns="36576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These are current dashboard totals and may change when slicers are applied.</a:t>
            </a:r>
          </a:p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Validate KPI definitions and source-data reconciliation before presenting them as final business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0A165C"/>
                </a:solidFill>
                <a:latin typeface="Aptos"/>
              </a:rPr>
              <a:t>2. Revenue, Region &amp; Channel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06B7A"/>
                </a:solidFill>
                <a:latin typeface="Aptos"/>
              </a:rPr>
              <a:t>Where reported sales are concentrated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0515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06B7A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73152" cy="12344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73936"/>
            <a:ext cx="31363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TOP DISPLAYED 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3118104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England — approximately ₹1.3M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73152" cy="1234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773936"/>
            <a:ext cx="31363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LEADING SALES 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21408"/>
            <a:ext cx="3118104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Online — approximately ₹3.11M revenue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645920"/>
            <a:ext cx="73152" cy="123444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1773936"/>
            <a:ext cx="31363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NEXT CHANNELS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121408"/>
            <a:ext cx="3118104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Retail Store ₹2.45M • B2B Portal ₹2.12M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51206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  <a:latin typeface="Aptos"/>
              </a:rPr>
              <a:t>OBSERVATIONS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30752"/>
            <a:ext cx="5074920" cy="1828800"/>
          </a:xfrm>
          <a:prstGeom prst="rect">
            <a:avLst/>
          </a:prstGeom>
          <a:noFill/>
        </p:spPr>
        <p:txBody>
          <a:bodyPr wrap="square" lIns="73152" tIns="27432" r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Online is the largest displayed sales channel by revenue.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England is the highest displayed region in the current regional chart.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The monthly trend rises notably toward October–December in the shown 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337560"/>
            <a:ext cx="5029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08080"/>
                </a:solidFill>
                <a:latin typeface="Aptos"/>
              </a:rPr>
              <a:t>POTENTIAL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730752"/>
            <a:ext cx="5074920" cy="1828800"/>
          </a:xfrm>
          <a:prstGeom prst="rect">
            <a:avLst/>
          </a:prstGeom>
          <a:noFill/>
        </p:spPr>
        <p:txBody>
          <a:bodyPr wrap="square" lIns="73152" tIns="27432" r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Review what drives online-channel performance before deciding whether to scale investment.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Investigate regional differences in product mix, order volume and profitability rather than using revenue alone.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0A165C"/>
                </a:solidFill>
                <a:latin typeface="Aptos"/>
              </a:rPr>
              <a:t>3. Product &amp; Profitability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06B7A"/>
                </a:solidFill>
                <a:latin typeface="Aptos"/>
              </a:rPr>
              <a:t>Revenue leadership and profit leadership are not identical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0515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06B7A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73152" cy="12344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73936"/>
            <a:ext cx="31363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TOP PRODUCT BY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3118104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AeroBook 14 Laptop — approximately ₹1.39M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73152" cy="1234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773936"/>
            <a:ext cx="31363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TOP PRODUCT BY 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21408"/>
            <a:ext cx="3118104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Probook 16 Laptop — approximately ₹252.23K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645920"/>
            <a:ext cx="73152" cy="123444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1773936"/>
            <a:ext cx="31363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TOP CATEGORY BY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121408"/>
            <a:ext cx="3118104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Electronics — approximately ₹4.9M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5074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  <a:latin typeface="Aptos"/>
              </a:rPr>
              <a:t>OBSERVATIONS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30752"/>
            <a:ext cx="5074920" cy="1828800"/>
          </a:xfrm>
          <a:prstGeom prst="rect">
            <a:avLst/>
          </a:prstGeom>
          <a:noFill/>
        </p:spPr>
        <p:txBody>
          <a:bodyPr wrap="square" lIns="73152" tIns="27432" r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AeroBook 14 Laptop leads the displayed product revenue ranking.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Probook 16 Laptop leads the displayed product profit ranking.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Electronics contributes the largest displayed category revenue.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337560"/>
            <a:ext cx="5029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08080"/>
                </a:solidFill>
                <a:latin typeface="Aptos"/>
              </a:rPr>
              <a:t>POTENTIAL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730752"/>
            <a:ext cx="5074920" cy="1828800"/>
          </a:xfrm>
          <a:prstGeom prst="rect">
            <a:avLst/>
          </a:prstGeom>
          <a:noFill/>
        </p:spPr>
        <p:txBody>
          <a:bodyPr wrap="square" lIns="73152" tIns="27432" r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Compare revenue, profit and margin together when prioritizing products.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Review lower-profit products for possible cost, price, discount or product-mix explanations; the dashboard alone does not prove the cause.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0A165C"/>
                </a:solidFill>
                <a:latin typeface="Aptos"/>
              </a:rPr>
              <a:t>4. Customer &amp; Segment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06B7A"/>
                </a:solidFill>
                <a:latin typeface="Aptos"/>
              </a:rPr>
              <a:t>Customer value differs by segment and by individual customer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0515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06B7A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73152" cy="12344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73936"/>
            <a:ext cx="31363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TOTAL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3118104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Approximately 5K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73152" cy="1234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773936"/>
            <a:ext cx="31363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RETURNING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21408"/>
            <a:ext cx="3118104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Approximately 4K displayed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645920"/>
            <a:ext cx="73152" cy="123444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1773936"/>
            <a:ext cx="31363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AVERAGE RATING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121408"/>
            <a:ext cx="3118104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3.99 displayed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5074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  <a:latin typeface="Aptos"/>
              </a:rPr>
              <a:t>OBSERVATIONS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30752"/>
            <a:ext cx="5074920" cy="1920240"/>
          </a:xfrm>
          <a:prstGeom prst="rect">
            <a:avLst/>
          </a:prstGeom>
          <a:noFill/>
        </p:spPr>
        <p:txBody>
          <a:bodyPr wrap="square" lIns="73152" tIns="27432" rIns="36576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Consumer is the largest displayed segment by revenue (about ₹3.7M) and profit (about ₹0.7M).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The Top 10 Customers visual shows C00661 as the leading customer by revenue at approximately ₹26.2K.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Returning-customer count is based on customers with more than one distinct order, per the current measure.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337560"/>
            <a:ext cx="5029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08080"/>
                </a:solidFill>
                <a:latin typeface="Aptos"/>
              </a:rPr>
              <a:t>POTENTIAL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730752"/>
            <a:ext cx="5074920" cy="1920240"/>
          </a:xfrm>
          <a:prstGeom prst="rect">
            <a:avLst/>
          </a:prstGeom>
          <a:noFill/>
        </p:spPr>
        <p:txBody>
          <a:bodyPr wrap="square" lIns="73152" tIns="27432" rIns="36576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Understand what products and behaviours contribute to Consumer-segment performance.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Use high-value customer analysis to explore retention opportunities, without assuming that the top customer represents all customers.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Confirm the repeat-customer definition before using it in formal reporting.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0A165C"/>
                </a:solidFill>
                <a:latin typeface="Aptos"/>
              </a:rPr>
              <a:t>5. Returns &amp; Customer Experience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06B7A"/>
                </a:solidFill>
                <a:latin typeface="Aptos"/>
              </a:rPr>
              <a:t>Patterns to investigate, not proof of cause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0515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06B7A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73152" cy="12344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73936"/>
            <a:ext cx="31363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OVERALL RETURN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3118104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12.64% displayed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73152" cy="1234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773936"/>
            <a:ext cx="31363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HIGHEST CATEGORY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21408"/>
            <a:ext cx="3118104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Furniture — 11.12%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645920"/>
            <a:ext cx="73152" cy="123444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1773936"/>
            <a:ext cx="31363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HIGHEST SHIPPING-METHOD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121408"/>
            <a:ext cx="3118104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Standard — 11.93%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5074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  <a:latin typeface="Aptos"/>
              </a:rPr>
              <a:t>MOST FREQUENT RECORDED REASONS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30752"/>
            <a:ext cx="5074920" cy="1965960"/>
          </a:xfrm>
          <a:prstGeom prst="rect">
            <a:avLst/>
          </a:prstGeom>
          <a:noFill/>
        </p:spPr>
        <p:txBody>
          <a:bodyPr wrap="square" lIns="73152" tIns="27432" rIns="36576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Late Delivery — 331 records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Wrong Item — 317 records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Damaged — 312 records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Other — 311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337560"/>
            <a:ext cx="5029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08080"/>
                </a:solidFill>
                <a:latin typeface="Aptos"/>
              </a:rPr>
              <a:t>POTENTIAL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730752"/>
            <a:ext cx="5074920" cy="1965960"/>
          </a:xfrm>
          <a:prstGeom prst="rect">
            <a:avLst/>
          </a:prstGeom>
          <a:noFill/>
        </p:spPr>
        <p:txBody>
          <a:bodyPr wrap="square" lIns="73152" tIns="27432" rIns="36576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Start by investigating late-delivery and wrong-item cases with operations teams.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Review category and shipping-method differences alongside order mix and sample counts.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A higher observed rate does not establish that a category or shipping method causes returns.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0A165C"/>
                </a:solidFill>
                <a:latin typeface="Aptos"/>
              </a:rPr>
              <a:t>6. Recommended Business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06B7A"/>
                </a:solidFill>
                <a:latin typeface="Aptos"/>
              </a:rPr>
              <a:t>Tie each action to an observed pattern and validate before changing 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0515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06B7A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1417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19656"/>
            <a:ext cx="49651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1. Review fulfilment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4946904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Late Delivery is the most frequent recorded reason in the filtered returns chart. Check dispatch, carrier and delivery-delay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819656"/>
            <a:ext cx="49651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2. Improve order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67128"/>
            <a:ext cx="4946904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Wrong Item is the second most frequent recorded reason. Review picking, packing and item-verification processes.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566160"/>
            <a:ext cx="73152" cy="141732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694176"/>
            <a:ext cx="49651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3. Manage product economics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41648"/>
            <a:ext cx="4946904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Compare top revenue products with top profit products; review low-profit items for cost, pricing and discount drivers.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6616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566160"/>
            <a:ext cx="73152" cy="1417320"/>
          </a:xfrm>
          <a:prstGeom prst="rect">
            <a:avLst/>
          </a:prstGeom>
          <a:solidFill>
            <a:srgbClr val="74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694176"/>
            <a:ext cx="49651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4. Segment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41648"/>
            <a:ext cx="4946904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Investigate what supports Consumer-segment performance and whether similar tactics are appropriate for other segments.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715000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606B7A"/>
                </a:solidFill>
                <a:latin typeface="Aptos"/>
              </a:rPr>
              <a:t>Recommendations are hypotheses for business investigation; confirm them with operational data before implementation.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0A165C"/>
                </a:solidFill>
                <a:latin typeface="Aptos"/>
              </a:rPr>
              <a:t>7. Limitations &amp; Validation Before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06B7A"/>
                </a:solidFill>
                <a:latin typeface="Aptos"/>
              </a:rPr>
              <a:t>Keep the project credible by being precise about what the data supports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0515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06B7A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  <a:latin typeface="Aptos"/>
              </a:rPr>
              <a:t>METRIC / DATA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120640" cy="2926080"/>
          </a:xfrm>
          <a:prstGeom prst="rect">
            <a:avLst/>
          </a:prstGeom>
          <a:noFill/>
        </p:spPr>
        <p:txBody>
          <a:bodyPr wrap="square" lIns="73152" tIns="27432" rIns="36576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Return Rate uses distinct returned orders divided by distinct orders; confirm that Return_Flag semantics support this order-level definition.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Returned Sales is sales value on returned rows, not necessarily cash refunded.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Returning Customers means customers with more than one distinct Order_ID.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Counts shown as K are rounded; use exact values when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029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08080"/>
                </a:solidFill>
                <a:latin typeface="Aptos"/>
              </a:rPr>
              <a:t>ANALYTICAL CAUTIONS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120640" cy="2926080"/>
          </a:xfrm>
          <a:prstGeom prst="rect">
            <a:avLst/>
          </a:prstGeom>
          <a:noFill/>
        </p:spPr>
        <p:txBody>
          <a:bodyPr wrap="square" lIns="73152" tIns="27432" rIns="36576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The dataset contains product-detail rows, so an Order_ID may appear multiple times.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Return reasons should be counted only among Return_Flag = Yes records for return-reason analysis.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Slicer selections can change displayed metrics; the figures in this deck refer to the dashboard view shared.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Observed relationships do not establish causation.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715000"/>
            <a:ext cx="106984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Final takeaway: use the dashboard to identify where to investigate next—not to claim causes the available data cannot prove.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881</Words>
  <Application>Microsoft Office PowerPoint</Application>
  <PresentationFormat>Widescreen</PresentationFormat>
  <Paragraphs>116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kishan .</cp:lastModifiedBy>
  <cp:revision>1</cp:revision>
  <dcterms:created xsi:type="dcterms:W3CDTF">2013-01-27T09:14:16Z</dcterms:created>
  <dcterms:modified xsi:type="dcterms:W3CDTF">2026-10-25T13:34:51Z</dcterms:modified>
  <cp:category/>
</cp:coreProperties>
</file>